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1206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5D3FF"/>
                </a:solidFill>
                <a:latin typeface="Noto Sans CJK SC"/>
              </a:rPr>
              <a:t>ALGORITHM OVERVIEW / 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60704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6F9FC"/>
                </a:solidFill>
                <a:latin typeface="Noto Sans CJK SC"/>
              </a:rPr>
              <a:t>在线编程助手：把自然语言变成可信机器人代码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47472"/>
            <a:ext cx="5029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B0C6"/>
                </a:solidFill>
                <a:latin typeface="Noto Sans CJK SC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686032" y="502920"/>
            <a:ext cx="201168" cy="0"/>
          </a:xfrm>
          <a:prstGeom prst="line">
            <a:avLst/>
          </a:prstGeom>
          <a:ln w="3048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115568"/>
            <a:ext cx="8412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DB0C6"/>
                </a:solidFill>
                <a:latin typeface="Noto Sans CJK SC"/>
              </a:rPr>
              <a:t>核心思路：</a:t>
            </a:r>
            <a:r>
              <a:rPr sz="1200" b="1">
                <a:solidFill>
                  <a:srgbClr val="35D3FF"/>
                </a:solidFill>
                <a:latin typeface="Noto Sans CJK SC"/>
              </a:rPr>
              <a:t>Tree-sitter</a:t>
            </a:r>
            <a:r>
              <a:rPr sz="1200" b="0">
                <a:solidFill>
                  <a:srgbClr val="9DB0C6"/>
                </a:solidFill>
                <a:latin typeface="Noto Sans CJK SC"/>
              </a:rPr>
              <a:t> 保证代码“写得对”，</a:t>
            </a:r>
            <a:r>
              <a:rPr sz="1200" b="1">
                <a:solidFill>
                  <a:srgbClr val="50E3A4"/>
                </a:solidFill>
                <a:latin typeface="Noto Sans CJK SC"/>
              </a:rPr>
              <a:t>虚拟解释器</a:t>
            </a:r>
            <a:r>
              <a:rPr sz="1200" b="0">
                <a:solidFill>
                  <a:srgbClr val="9DB0C6"/>
                </a:solidFill>
                <a:latin typeface="Noto Sans CJK SC"/>
              </a:rPr>
              <a:t> 保证代码“跑得通”。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2368" y="1097280"/>
            <a:ext cx="1225296" cy="310896"/>
          </a:xfrm>
          <a:prstGeom prst="roundRect">
            <a:avLst>
              <a:gd name="adj" fmla="val 8000"/>
            </a:avLst>
          </a:prstGeom>
          <a:solidFill>
            <a:srgbClr val="123B50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02368" y="1097280"/>
            <a:ext cx="12252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5D3FF"/>
                </a:solidFill>
                <a:latin typeface="Noto Sans CJK SC"/>
              </a:rPr>
              <a:t>Siasun / KRL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0816" y="1097280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816" y="1097280"/>
            <a:ext cx="71323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0E3A4"/>
                </a:solidFill>
                <a:latin typeface="Noto Sans CJK SC"/>
              </a:rPr>
              <a:t>AST 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2029968" cy="254203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50292" cy="254203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1911095"/>
            <a:ext cx="310896" cy="310896"/>
          </a:xfrm>
          <a:prstGeom prst="ellipse">
            <a:avLst/>
          </a:prstGeom>
          <a:solidFill>
            <a:srgbClr val="FFC857"/>
          </a:solidFill>
          <a:ln w="889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11095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11F"/>
                </a:solidFill>
                <a:latin typeface="Noto Sans CJK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901952"/>
            <a:ext cx="129844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C857"/>
                </a:solidFill>
                <a:latin typeface="Noto Sans CJK SC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359152"/>
            <a:ext cx="170078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9FC"/>
                </a:solidFill>
                <a:latin typeface="Noto Sans CJK SC"/>
              </a:rPr>
              <a:t>用户意图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971800"/>
            <a:ext cx="1700784" cy="1115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40" b="0">
                <a:solidFill>
                  <a:srgbClr val="9DB0C6"/>
                </a:solidFill>
                <a:latin typeface="Noto Sans CJK SC"/>
              </a:rPr>
              <a:t>自然语言描述任务
例如：移动到 P1 并等待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950207"/>
            <a:ext cx="384048" cy="182880"/>
          </a:xfrm>
          <a:prstGeom prst="roundRect">
            <a:avLst>
              <a:gd name="adj" fmla="val 8000"/>
            </a:avLst>
          </a:prstGeom>
          <a:solidFill>
            <a:srgbClr val="4A3919"/>
          </a:solidFill>
          <a:ln w="12700">
            <a:solidFill>
              <a:srgbClr val="4A3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950207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C857"/>
                </a:solidFill>
                <a:latin typeface="Noto Sans CJK SC"/>
              </a:rPr>
              <a:t>CORE</a:t>
            </a:r>
          </a:p>
        </p:txBody>
      </p:sp>
      <p:sp>
        <p:nvSpPr>
          <p:cNvPr id="20" name="Chevron 19"/>
          <p:cNvSpPr/>
          <p:nvPr/>
        </p:nvSpPr>
        <p:spPr>
          <a:xfrm>
            <a:off x="2560320" y="2834639"/>
            <a:ext cx="201168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79776" y="1737360"/>
            <a:ext cx="2029968" cy="254203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9776" y="1737360"/>
            <a:ext cx="50292" cy="254203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44368" y="1911095"/>
            <a:ext cx="310896" cy="310896"/>
          </a:xfrm>
          <a:prstGeom prst="ellipse">
            <a:avLst/>
          </a:prstGeom>
          <a:solidFill>
            <a:srgbClr val="35D3FF"/>
          </a:solidFill>
          <a:ln w="889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1911095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11F"/>
                </a:solidFill>
                <a:latin typeface="Noto Sans CJK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704" y="1901952"/>
            <a:ext cx="129844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5D3FF"/>
                </a:solidFill>
                <a:latin typeface="Noto Sans CJK SC"/>
              </a:rPr>
              <a:t>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2359152"/>
            <a:ext cx="170078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9FC"/>
                </a:solidFill>
                <a:latin typeface="Noto Sans CJK SC"/>
              </a:rPr>
              <a:t>代码草稿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2971800"/>
            <a:ext cx="1700784" cy="1115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40" b="0">
                <a:solidFill>
                  <a:srgbClr val="9DB0C6"/>
                </a:solidFill>
                <a:latin typeface="Noto Sans CJK SC"/>
              </a:rPr>
              <a:t>LLM 或模板生成
遵循 SET / IF / GOTO / MOVJ 等关键词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2816" y="3950207"/>
            <a:ext cx="384048" cy="182880"/>
          </a:xfrm>
          <a:prstGeom prst="roundRect">
            <a:avLst>
              <a:gd name="adj" fmla="val 8000"/>
            </a:avLst>
          </a:prstGeom>
          <a:solidFill>
            <a:srgbClr val="123B50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3950207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5D3FF"/>
                </a:solidFill>
                <a:latin typeface="Noto Sans CJK SC"/>
              </a:rPr>
              <a:t>CORE</a:t>
            </a:r>
          </a:p>
        </p:txBody>
      </p:sp>
      <p:sp>
        <p:nvSpPr>
          <p:cNvPr id="30" name="Chevron 29"/>
          <p:cNvSpPr/>
          <p:nvPr/>
        </p:nvSpPr>
        <p:spPr>
          <a:xfrm>
            <a:off x="4882896" y="2834639"/>
            <a:ext cx="201168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02352" y="1737360"/>
            <a:ext cx="2029968" cy="254203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02352" y="1737360"/>
            <a:ext cx="50292" cy="254203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66944" y="1911095"/>
            <a:ext cx="310896" cy="310896"/>
          </a:xfrm>
          <a:prstGeom prst="ellipse">
            <a:avLst/>
          </a:prstGeom>
          <a:solidFill>
            <a:srgbClr val="35D3FF"/>
          </a:solidFill>
          <a:ln w="889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6944" y="1911095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11F"/>
                </a:solidFill>
                <a:latin typeface="Noto Sans CJK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1901952"/>
            <a:ext cx="129844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5D3FF"/>
                </a:solidFill>
                <a:latin typeface="Noto Sans CJK SC"/>
              </a:rPr>
              <a:t>STATIC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6944" y="2359152"/>
            <a:ext cx="170078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9FC"/>
                </a:solidFill>
                <a:latin typeface="Noto Sans CJK SC"/>
              </a:rPr>
              <a:t>语法与结构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2971800"/>
            <a:ext cx="1700784" cy="1115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40" b="0">
                <a:solidFill>
                  <a:srgbClr val="9DB0C6"/>
                </a:solidFill>
                <a:latin typeface="Noto Sans CJK SC"/>
              </a:rPr>
              <a:t>Tree-sitter 解析 AST
检查 ERROR / MISSING、NOP / END、参数与类型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65392" y="3950207"/>
            <a:ext cx="384048" cy="182880"/>
          </a:xfrm>
          <a:prstGeom prst="roundRect">
            <a:avLst>
              <a:gd name="adj" fmla="val 8000"/>
            </a:avLst>
          </a:prstGeom>
          <a:solidFill>
            <a:srgbClr val="123B50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3950207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5D3FF"/>
                </a:solidFill>
                <a:latin typeface="Noto Sans CJK SC"/>
              </a:rPr>
              <a:t>CORE</a:t>
            </a:r>
          </a:p>
        </p:txBody>
      </p:sp>
      <p:sp>
        <p:nvSpPr>
          <p:cNvPr id="40" name="Chevron 39"/>
          <p:cNvSpPr/>
          <p:nvPr/>
        </p:nvSpPr>
        <p:spPr>
          <a:xfrm>
            <a:off x="7205472" y="2834639"/>
            <a:ext cx="201168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24927" y="1737360"/>
            <a:ext cx="2029968" cy="254203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24927" y="1737360"/>
            <a:ext cx="50292" cy="2542032"/>
          </a:xfrm>
          <a:prstGeom prst="rect">
            <a:avLst/>
          </a:prstGeom>
          <a:solidFill>
            <a:srgbClr val="50E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9519" y="1911095"/>
            <a:ext cx="310896" cy="310896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1911095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11F"/>
                </a:solidFill>
                <a:latin typeface="Noto Sans CJK S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1855" y="1901952"/>
            <a:ext cx="129844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0E3A4"/>
                </a:solidFill>
                <a:latin typeface="Noto Sans CJK SC"/>
              </a:rPr>
              <a:t>DYNAMIC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19" y="2359152"/>
            <a:ext cx="170078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9FC"/>
                </a:solidFill>
                <a:latin typeface="Noto Sans CJK SC"/>
              </a:rPr>
              <a:t>语义与运行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19" y="2971800"/>
            <a:ext cx="1700784" cy="1115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40" b="0">
                <a:solidFill>
                  <a:srgbClr val="9DB0C6"/>
                </a:solidFill>
                <a:latin typeface="Noto Sans CJK SC"/>
              </a:rPr>
              <a:t>解释器逐行执行 AST
模拟寄存器、控制流、运动与 IO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87968" y="3950207"/>
            <a:ext cx="384048" cy="1828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8" y="3950207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50E3A4"/>
                </a:solidFill>
                <a:latin typeface="Noto Sans CJK SC"/>
              </a:rPr>
              <a:t>CORE</a:t>
            </a:r>
          </a:p>
        </p:txBody>
      </p:sp>
      <p:sp>
        <p:nvSpPr>
          <p:cNvPr id="50" name="Chevron 49"/>
          <p:cNvSpPr/>
          <p:nvPr/>
        </p:nvSpPr>
        <p:spPr>
          <a:xfrm>
            <a:off x="9528048" y="2834639"/>
            <a:ext cx="201168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1737360"/>
            <a:ext cx="1993392" cy="254203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47504" y="1737360"/>
            <a:ext cx="50292" cy="2542032"/>
          </a:xfrm>
          <a:prstGeom prst="rect">
            <a:avLst/>
          </a:prstGeom>
          <a:solidFill>
            <a:srgbClr val="50E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12096" y="1911095"/>
            <a:ext cx="310896" cy="310896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12096" y="1911095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11F"/>
                </a:solidFill>
                <a:latin typeface="Noto Sans CJK SC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4432" y="1901952"/>
            <a:ext cx="126187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0E3A4"/>
                </a:solidFill>
                <a:latin typeface="Noto Sans CJK SC"/>
              </a:rPr>
              <a:t>DELIVERY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12096" y="2359152"/>
            <a:ext cx="1664208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9FC"/>
                </a:solidFill>
                <a:latin typeface="Noto Sans CJK SC"/>
              </a:rPr>
              <a:t>可信输出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12096" y="2971800"/>
            <a:ext cx="1664208" cy="1115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40" b="0">
                <a:solidFill>
                  <a:srgbClr val="9DB0C6"/>
                </a:solidFill>
                <a:latin typeface="Noto Sans CJK SC"/>
              </a:rPr>
              <a:t>代码 + AST 高亮
最终状态 + 执行日志 / 测试报告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173968" y="3950207"/>
            <a:ext cx="384048" cy="1828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73968" y="3950207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50E3A4"/>
                </a:solidFill>
                <a:latin typeface="Noto Sans CJK SC"/>
              </a:rPr>
              <a:t>CORE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0" y="1499616"/>
            <a:ext cx="1618488" cy="283464"/>
          </a:xfrm>
          <a:prstGeom prst="roundRect">
            <a:avLst>
              <a:gd name="adj" fmla="val 8000"/>
            </a:avLst>
          </a:prstGeom>
          <a:solidFill>
            <a:srgbClr val="123B50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1499616"/>
            <a:ext cx="161848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5D3FF"/>
                </a:solidFill>
                <a:latin typeface="Noto Sans CJK SC"/>
              </a:rPr>
              <a:t>第一道门禁 · 写得对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0" y="1499616"/>
            <a:ext cx="1709928" cy="283464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9520" y="1499616"/>
            <a:ext cx="170992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0E3A4"/>
                </a:solidFill>
                <a:latin typeface="Noto Sans CJK SC"/>
              </a:rPr>
              <a:t>第二道门禁 · 跑得通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4636008"/>
            <a:ext cx="11283696" cy="1499616"/>
          </a:xfrm>
          <a:prstGeom prst="roundRect">
            <a:avLst>
              <a:gd name="adj" fmla="val 8000"/>
            </a:avLst>
          </a:prstGeom>
          <a:solidFill>
            <a:srgbClr val="091827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4944" y="4846320"/>
            <a:ext cx="960120" cy="27432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4846320"/>
            <a:ext cx="960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9DB0C6"/>
                </a:solidFill>
                <a:latin typeface="Noto Sans CJK SC"/>
              </a:rPr>
              <a:t>一次性初始化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" y="5230368"/>
            <a:ext cx="132588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F9FC"/>
                </a:solidFill>
                <a:latin typeface="Noto Sans CJK SC"/>
              </a:rPr>
              <a:t>语法库构建链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" y="5577840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DB0C6"/>
                </a:solidFill>
                <a:latin typeface="Noto Sans CJK SC"/>
              </a:rPr>
              <a:t>支撑后续每次解析与高亮</a:t>
            </a:r>
          </a:p>
        </p:txBody>
      </p:sp>
      <p:sp>
        <p:nvSpPr>
          <p:cNvPr id="69" name="Oval 68"/>
          <p:cNvSpPr/>
          <p:nvPr/>
        </p:nvSpPr>
        <p:spPr>
          <a:xfrm>
            <a:off x="2523744" y="4965192"/>
            <a:ext cx="274320" cy="274320"/>
          </a:xfrm>
          <a:prstGeom prst="ellipse">
            <a:avLst/>
          </a:prstGeom>
          <a:solidFill>
            <a:srgbClr val="35D3FF"/>
          </a:solidFill>
          <a:ln w="889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23744" y="496519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Noto Sans CJK SC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07791" y="4882896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9FC"/>
                </a:solidFill>
                <a:latin typeface="Noto Sans CJK SC"/>
              </a:rPr>
              <a:t>grammar.js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07791" y="5266944"/>
            <a:ext cx="201168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Siasun / KRL 语法定义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745736" y="5285232"/>
            <a:ext cx="685800" cy="0"/>
          </a:xfrm>
          <a:prstGeom prst="line">
            <a:avLst/>
          </a:prstGeom>
          <a:ln w="19050">
            <a:solidFill>
              <a:srgbClr val="27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hevron 73"/>
          <p:cNvSpPr/>
          <p:nvPr/>
        </p:nvSpPr>
        <p:spPr>
          <a:xfrm>
            <a:off x="5321808" y="5129784"/>
            <a:ext cx="182880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669280" y="4965192"/>
            <a:ext cx="274320" cy="274320"/>
          </a:xfrm>
          <a:prstGeom prst="ellipse">
            <a:avLst/>
          </a:prstGeom>
          <a:solidFill>
            <a:srgbClr val="FFC857"/>
          </a:solidFill>
          <a:ln w="889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0" y="496519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Noto Sans CJK SC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53328" y="4882896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9FC"/>
                </a:solidFill>
                <a:latin typeface="Noto Sans CJK SC"/>
              </a:rPr>
              <a:t>Build Library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53328" y="5266944"/>
            <a:ext cx="201168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编译为 .so / .dll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91272" y="5285232"/>
            <a:ext cx="685800" cy="0"/>
          </a:xfrm>
          <a:prstGeom prst="line">
            <a:avLst/>
          </a:prstGeom>
          <a:ln w="19050">
            <a:solidFill>
              <a:srgbClr val="27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hevron 79"/>
          <p:cNvSpPr/>
          <p:nvPr/>
        </p:nvSpPr>
        <p:spPr>
          <a:xfrm>
            <a:off x="8467344" y="5129784"/>
            <a:ext cx="182880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814816" y="4965192"/>
            <a:ext cx="274320" cy="274320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14816" y="496519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Noto Sans CJK SC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98864" y="4882896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9FC"/>
                </a:solidFill>
                <a:latin typeface="Noto Sans CJK SC"/>
              </a:rPr>
              <a:t>Parser Load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98864" y="5266944"/>
            <a:ext cx="201168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Python 加载语言并生成 AST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6519672"/>
            <a:ext cx="51206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DB0C6"/>
                </a:solidFill>
                <a:latin typeface="Noto Sans CJK SC"/>
              </a:rPr>
              <a:t>来源：《在线编程助手算法设计》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6519672"/>
            <a:ext cx="4297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9DB0C6"/>
                </a:solidFill>
                <a:latin typeface="Noto Sans CJK SC"/>
              </a:rPr>
              <a:t>TREE-SITTER × VIRTUAL INTERPRETER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1206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5D3FF"/>
                </a:solidFill>
                <a:latin typeface="Noto Sans CJK SC"/>
              </a:rPr>
              <a:t>VALIDATION LOOP / 验证闭环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60704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6F9FC"/>
                </a:solidFill>
                <a:latin typeface="Noto Sans CJK SC"/>
              </a:rPr>
              <a:t>从候选代码到可审计结果：失败即定位、反馈、再生成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47472"/>
            <a:ext cx="5029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B0C6"/>
                </a:solidFill>
                <a:latin typeface="Noto Sans CJK SC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686032" y="502920"/>
            <a:ext cx="201168" cy="0"/>
          </a:xfrm>
          <a:prstGeom prst="line">
            <a:avLst/>
          </a:prstGeom>
          <a:ln w="3048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097280"/>
            <a:ext cx="850392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Noto Sans CJK SC"/>
              </a:rPr>
              <a:t>静态错误</a:t>
            </a:r>
            <a:r>
              <a:rPr sz="1100" b="0">
                <a:solidFill>
                  <a:srgbClr val="9DB0C6"/>
                </a:solidFill>
                <a:latin typeface="Noto Sans CJK SC"/>
              </a:rPr>
              <a:t> 与 </a:t>
            </a:r>
            <a:r>
              <a:rPr sz="1100" b="1">
                <a:solidFill>
                  <a:srgbClr val="50E3A4"/>
                </a:solidFill>
                <a:latin typeface="Noto Sans CJK SC"/>
              </a:rPr>
              <a:t>运行时异常</a:t>
            </a:r>
            <a:r>
              <a:rPr sz="1100" b="0">
                <a:solidFill>
                  <a:srgbClr val="9DB0C6"/>
                </a:solidFill>
                <a:latin typeface="Noto Sans CJK SC"/>
              </a:rPr>
              <a:t> 共用一条反馈通道；超过重试上限则带警告返回最后版本。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078992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4B202B"/>
          </a:solidFill>
          <a:ln w="12700">
            <a:solidFill>
              <a:srgbClr val="4B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1078992"/>
            <a:ext cx="1783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6B7A"/>
                </a:solidFill>
                <a:latin typeface="Noto Sans CJK SC"/>
              </a:rPr>
              <a:t>MAX_RETRIES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8156448" cy="4681728"/>
          </a:xfrm>
          <a:prstGeom prst="roundRect">
            <a:avLst>
              <a:gd name="adj" fmla="val 8000"/>
            </a:avLst>
          </a:prstGeom>
          <a:solidFill>
            <a:srgbClr val="091827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46504"/>
            <a:ext cx="91440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DB0C6"/>
                </a:solidFill>
                <a:latin typeface="Noto Sans CJK SC"/>
              </a:rPr>
              <a:t>主处理链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07568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2221992"/>
            <a:ext cx="621792" cy="228600"/>
          </a:xfrm>
          <a:prstGeom prst="roundRect">
            <a:avLst>
              <a:gd name="adj" fmla="val 8000"/>
            </a:avLst>
          </a:prstGeom>
          <a:solidFill>
            <a:srgbClr val="4A3919"/>
          </a:solidFill>
          <a:ln w="12700">
            <a:solidFill>
              <a:srgbClr val="4A3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221992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C857"/>
                </a:solidFill>
                <a:latin typeface="Noto Sans CJK SC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87752"/>
            <a:ext cx="12801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9FC"/>
                </a:solidFill>
                <a:latin typeface="Noto Sans CJK SC"/>
              </a:rPr>
              <a:t>生成候选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008376"/>
            <a:ext cx="128016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用户意图
→ LLM / 模板</a:t>
            </a:r>
          </a:p>
        </p:txBody>
      </p:sp>
      <p:sp>
        <p:nvSpPr>
          <p:cNvPr id="16" name="Chevron 15"/>
          <p:cNvSpPr/>
          <p:nvPr/>
        </p:nvSpPr>
        <p:spPr>
          <a:xfrm>
            <a:off x="2414016" y="2715768"/>
            <a:ext cx="182880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42032" y="2075688"/>
            <a:ext cx="1737360" cy="1572768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88336" y="2221992"/>
            <a:ext cx="621792" cy="228600"/>
          </a:xfrm>
          <a:prstGeom prst="roundRect">
            <a:avLst>
              <a:gd name="adj" fmla="val 8000"/>
            </a:avLst>
          </a:prstGeom>
          <a:solidFill>
            <a:srgbClr val="123B50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8336" y="2221992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5D3FF"/>
                </a:solidFill>
                <a:latin typeface="Noto Sans CJK SC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2587752"/>
            <a:ext cx="144475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9FC"/>
                </a:solidFill>
                <a:latin typeface="Noto Sans CJK SC"/>
              </a:rPr>
              <a:t>解析与静态校验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3008376"/>
            <a:ext cx="1444751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生成 AST
检查语法与结构</a:t>
            </a:r>
          </a:p>
        </p:txBody>
      </p:sp>
      <p:sp>
        <p:nvSpPr>
          <p:cNvPr id="22" name="Chevron 21"/>
          <p:cNvSpPr/>
          <p:nvPr/>
        </p:nvSpPr>
        <p:spPr>
          <a:xfrm>
            <a:off x="4407407" y="2715768"/>
            <a:ext cx="182880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3712" y="2075688"/>
            <a:ext cx="1737360" cy="1572768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0016" y="2221992"/>
            <a:ext cx="621792" cy="22860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2221992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0E3A4"/>
                </a:solidFill>
                <a:latin typeface="Noto Sans CJK SC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2587752"/>
            <a:ext cx="144475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9FC"/>
                </a:solidFill>
                <a:latin typeface="Noto Sans CJK SC"/>
              </a:rPr>
              <a:t>解释器动态执行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3008376"/>
            <a:ext cx="1444751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更新寄存器 / PC
模拟运动与 IO</a:t>
            </a:r>
          </a:p>
        </p:txBody>
      </p:sp>
      <p:sp>
        <p:nvSpPr>
          <p:cNvPr id="28" name="Chevron 27"/>
          <p:cNvSpPr/>
          <p:nvPr/>
        </p:nvSpPr>
        <p:spPr>
          <a:xfrm>
            <a:off x="6419088" y="2715768"/>
            <a:ext cx="182880" cy="310896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5392" y="2075688"/>
            <a:ext cx="1737360" cy="1572768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11696" y="2221992"/>
            <a:ext cx="621792" cy="22860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2221992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0E3A4"/>
                </a:solidFill>
                <a:latin typeface="Noto Sans CJK SC"/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2587752"/>
            <a:ext cx="144475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9FC"/>
                </a:solidFill>
                <a:latin typeface="Noto Sans CJK SC"/>
              </a:rPr>
              <a:t>成功交付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3008376"/>
            <a:ext cx="1444751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DB0C6"/>
                </a:solidFill>
                <a:latin typeface="Noto Sans CJK SC"/>
              </a:rPr>
              <a:t>代码 + 高亮
状态 + 日志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24328" y="3794760"/>
            <a:ext cx="1572768" cy="274320"/>
          </a:xfrm>
          <a:prstGeom prst="roundRect">
            <a:avLst>
              <a:gd name="adj" fmla="val 8000"/>
            </a:avLst>
          </a:prstGeom>
          <a:solidFill>
            <a:srgbClr val="123B50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4328" y="3794760"/>
            <a:ext cx="157276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35D3FF"/>
                </a:solidFill>
                <a:latin typeface="Noto Sans CJK SC"/>
              </a:rPr>
              <a:t>ERROR / MISSING · NOP / END · 参数 / 类型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36008" y="3794760"/>
            <a:ext cx="1572768" cy="27432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36008" y="3794760"/>
            <a:ext cx="157276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50E3A4"/>
                </a:solidFill>
                <a:latin typeface="Noto Sans CJK SC"/>
              </a:rPr>
              <a:t>除零 · 死循环 · 未定义标签 · 断言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410712" y="3648456"/>
            <a:ext cx="0" cy="594360"/>
          </a:xfrm>
          <a:prstGeom prst="line">
            <a:avLst/>
          </a:prstGeom>
          <a:ln w="1397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22392" y="3648456"/>
            <a:ext cx="0" cy="594360"/>
          </a:xfrm>
          <a:prstGeom prst="line">
            <a:avLst/>
          </a:prstGeom>
          <a:ln w="1397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29584" y="4133087"/>
            <a:ext cx="3840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6B7A"/>
                </a:solidFill>
                <a:latin typeface="Noto Sans CJK SC"/>
              </a:rPr>
              <a:t>失败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1264" y="4133087"/>
            <a:ext cx="3840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6B7A"/>
                </a:solidFill>
                <a:latin typeface="Noto Sans CJK SC"/>
              </a:rPr>
              <a:t>异常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9848" y="4370832"/>
            <a:ext cx="1847088" cy="107899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4B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7007" y="4507992"/>
            <a:ext cx="157276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7A"/>
                </a:solidFill>
                <a:latin typeface="Noto Sans CJK SC"/>
              </a:rPr>
              <a:t>① 错误定位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007" y="4901184"/>
            <a:ext cx="15727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C6"/>
                </a:solidFill>
                <a:latin typeface="Noto Sans CJK SC"/>
              </a:rPr>
              <a:t>行号 · 类型 · 当前代码</a:t>
            </a:r>
          </a:p>
        </p:txBody>
      </p:sp>
      <p:sp>
        <p:nvSpPr>
          <p:cNvPr id="45" name="Chevron 44"/>
          <p:cNvSpPr/>
          <p:nvPr/>
        </p:nvSpPr>
        <p:spPr>
          <a:xfrm>
            <a:off x="3026664" y="4754880"/>
            <a:ext cx="164592" cy="292608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46120" y="4370832"/>
            <a:ext cx="1901952" cy="107899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4A3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79" y="4507992"/>
            <a:ext cx="162763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C857"/>
                </a:solidFill>
                <a:latin typeface="Noto Sans CJK SC"/>
              </a:rPr>
              <a:t>② 构建修正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79" y="4901184"/>
            <a:ext cx="16276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C6"/>
                </a:solidFill>
                <a:latin typeface="Noto Sans CJK SC"/>
              </a:rPr>
              <a:t>目标 + 代码 + error_msg</a:t>
            </a:r>
          </a:p>
        </p:txBody>
      </p:sp>
      <p:sp>
        <p:nvSpPr>
          <p:cNvPr id="49" name="Chevron 48"/>
          <p:cNvSpPr/>
          <p:nvPr/>
        </p:nvSpPr>
        <p:spPr>
          <a:xfrm>
            <a:off x="5257800" y="4754880"/>
            <a:ext cx="164592" cy="292608"/>
          </a:xfrm>
          <a:prstGeom prst="chevron">
            <a:avLst/>
          </a:prstGeom>
          <a:solidFill>
            <a:srgbClr val="27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77256" y="4370832"/>
            <a:ext cx="1856231" cy="1078992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12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14416" y="4507992"/>
            <a:ext cx="1581911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D3FF"/>
                </a:solidFill>
                <a:latin typeface="Noto Sans CJK SC"/>
              </a:rPr>
              <a:t>③ 判断重试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14416" y="4901184"/>
            <a:ext cx="1581911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C6"/>
                </a:solidFill>
                <a:latin typeface="Noto Sans CJK SC"/>
              </a:rPr>
              <a:t>retry_count &lt; 3 ?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1481328" y="5632704"/>
            <a:ext cx="4919472" cy="0"/>
          </a:xfrm>
          <a:prstGeom prst="line">
            <a:avLst/>
          </a:prstGeom>
          <a:ln w="1778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481328" y="5495544"/>
            <a:ext cx="0" cy="137160"/>
          </a:xfrm>
          <a:prstGeom prst="line">
            <a:avLst/>
          </a:prstGeom>
          <a:ln w="1778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evron 54"/>
          <p:cNvSpPr/>
          <p:nvPr/>
        </p:nvSpPr>
        <p:spPr>
          <a:xfrm>
            <a:off x="1371600" y="5367528"/>
            <a:ext cx="219456" cy="310896"/>
          </a:xfrm>
          <a:prstGeom prst="chevron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12463" y="5650992"/>
            <a:ext cx="1325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5D3FF"/>
                </a:solidFill>
                <a:latin typeface="Noto Sans CJK SC"/>
              </a:rPr>
              <a:t>是 → 返回生成器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68112" y="5833872"/>
            <a:ext cx="2523744" cy="256032"/>
          </a:xfrm>
          <a:prstGeom prst="roundRect">
            <a:avLst>
              <a:gd name="adj" fmla="val 8000"/>
            </a:avLst>
          </a:prstGeom>
          <a:solidFill>
            <a:srgbClr val="4B202B"/>
          </a:solidFill>
          <a:ln w="12700">
            <a:solidFill>
              <a:srgbClr val="4B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68112" y="5833872"/>
            <a:ext cx="252374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6B7A"/>
                </a:solidFill>
                <a:latin typeface="Noto Sans CJK SC"/>
              </a:rPr>
              <a:t>否 → 输出最后代码 + 错误警告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69680" y="1572768"/>
            <a:ext cx="2862072" cy="4681728"/>
          </a:xfrm>
          <a:prstGeom prst="roundRect">
            <a:avLst>
              <a:gd name="adj" fmla="val 8000"/>
            </a:avLst>
          </a:prstGeom>
          <a:solidFill>
            <a:srgbClr val="0D1B2E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1810512"/>
            <a:ext cx="234086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9FC"/>
                </a:solidFill>
                <a:latin typeface="Noto Sans CJK SC"/>
              </a:rPr>
              <a:t>通过后交付什么？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25712" y="2157984"/>
            <a:ext cx="23408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DB0C6"/>
                </a:solidFill>
                <a:latin typeface="Noto Sans CJK SC"/>
              </a:rPr>
              <a:t>四类结果共同构成可审计输出</a:t>
            </a:r>
          </a:p>
        </p:txBody>
      </p:sp>
      <p:sp>
        <p:nvSpPr>
          <p:cNvPr id="62" name="Oval 61"/>
          <p:cNvSpPr/>
          <p:nvPr/>
        </p:nvSpPr>
        <p:spPr>
          <a:xfrm>
            <a:off x="9125712" y="2615184"/>
            <a:ext cx="310896" cy="310896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5712" y="2615184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7111F"/>
                </a:solidFill>
                <a:latin typeface="Noto Sans CJK SC"/>
              </a:rPr>
              <a:t>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82912" y="2606040"/>
            <a:ext cx="14173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6F9FC"/>
                </a:solidFill>
                <a:latin typeface="Noto Sans CJK SC"/>
              </a:rPr>
              <a:t>生成代码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82912" y="2871215"/>
            <a:ext cx="1810512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DB0C6"/>
                </a:solidFill>
                <a:latin typeface="Noto Sans CJK SC"/>
              </a:rPr>
              <a:t>可直接编辑 / 下发</a:t>
            </a:r>
          </a:p>
        </p:txBody>
      </p:sp>
      <p:sp>
        <p:nvSpPr>
          <p:cNvPr id="66" name="Oval 65"/>
          <p:cNvSpPr/>
          <p:nvPr/>
        </p:nvSpPr>
        <p:spPr>
          <a:xfrm>
            <a:off x="9125712" y="3310128"/>
            <a:ext cx="310896" cy="310896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25712" y="3310128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7111F"/>
                </a:solidFill>
                <a:latin typeface="Noto Sans CJK SC"/>
              </a:rPr>
              <a:t>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82912" y="3300984"/>
            <a:ext cx="14173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6F9FC"/>
                </a:solidFill>
                <a:latin typeface="Noto Sans CJK SC"/>
              </a:rPr>
              <a:t>AST 高亮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82912" y="3566160"/>
            <a:ext cx="1810512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DB0C6"/>
                </a:solidFill>
                <a:latin typeface="Noto Sans CJK SC"/>
              </a:rPr>
              <a:t>关键词、变量、结构</a:t>
            </a:r>
          </a:p>
        </p:txBody>
      </p:sp>
      <p:sp>
        <p:nvSpPr>
          <p:cNvPr id="70" name="Oval 69"/>
          <p:cNvSpPr/>
          <p:nvPr/>
        </p:nvSpPr>
        <p:spPr>
          <a:xfrm>
            <a:off x="9125712" y="4005072"/>
            <a:ext cx="310896" cy="310896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25712" y="40050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7111F"/>
                </a:solidFill>
                <a:latin typeface="Noto Sans CJK SC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82912" y="3995928"/>
            <a:ext cx="14173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6F9FC"/>
                </a:solidFill>
                <a:latin typeface="Noto Sans CJK SC"/>
              </a:rPr>
              <a:t>最终状态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82912" y="4261104"/>
            <a:ext cx="1810512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DB0C6"/>
                </a:solidFill>
                <a:latin typeface="Noto Sans CJK SC"/>
              </a:rPr>
              <a:t>I / R / P / OT 寄存器</a:t>
            </a:r>
          </a:p>
        </p:txBody>
      </p:sp>
      <p:sp>
        <p:nvSpPr>
          <p:cNvPr id="74" name="Oval 73"/>
          <p:cNvSpPr/>
          <p:nvPr/>
        </p:nvSpPr>
        <p:spPr>
          <a:xfrm>
            <a:off x="9125712" y="4700016"/>
            <a:ext cx="310896" cy="310896"/>
          </a:xfrm>
          <a:prstGeom prst="ellipse">
            <a:avLst/>
          </a:prstGeom>
          <a:solidFill>
            <a:srgbClr val="50E3A4"/>
          </a:solidFill>
          <a:ln w="8890">
            <a:solidFill>
              <a:srgbClr val="50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25712" y="4700016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7111F"/>
                </a:solidFill>
                <a:latin typeface="Noto Sans CJK SC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82912" y="4690872"/>
            <a:ext cx="14173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6F9FC"/>
                </a:solidFill>
                <a:latin typeface="Noto Sans CJK SC"/>
              </a:rPr>
              <a:t>执行报告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82912" y="4956048"/>
            <a:ext cx="1810512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DB0C6"/>
                </a:solidFill>
                <a:latin typeface="Noto Sans CJK SC"/>
              </a:rPr>
              <a:t>轨迹、日志、异常信息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25712" y="5458968"/>
            <a:ext cx="969264" cy="256032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 w="12700"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25712" y="5458968"/>
            <a:ext cx="9692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50E3A4"/>
                </a:solidFill>
                <a:latin typeface="Noto Sans CJK SC"/>
              </a:rPr>
              <a:t>示例：PASSED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25712" y="5769864"/>
            <a:ext cx="2340864" cy="320040"/>
          </a:xfrm>
          <a:prstGeom prst="roundRect">
            <a:avLst>
              <a:gd name="adj" fmla="val 8000"/>
            </a:avLst>
          </a:prstGeom>
          <a:solidFill>
            <a:srgbClr val="081522"/>
          </a:solidFill>
          <a:ln w="12700">
            <a:solidFill>
              <a:srgbClr val="27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17152" y="5769864"/>
            <a:ext cx="215798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6F9FC"/>
                </a:solidFill>
                <a:latin typeface="DejaVu Sans Mono"/>
              </a:rPr>
              <a:t>NOP → SET I1 5 → OUT ON → END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519672"/>
            <a:ext cx="51206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DB0C6"/>
                </a:solidFill>
                <a:latin typeface="Noto Sans CJK SC"/>
              </a:rPr>
              <a:t>来源：《在线编程助手算法设计》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6519672"/>
            <a:ext cx="4297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9DB0C6"/>
                </a:solidFill>
                <a:latin typeface="Noto Sans CJK SC"/>
              </a:rPr>
              <a:t>TREE-SITTER × VIRTUAL INTERPRETER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在线编程助手算法设计｜两页摘要</dc:title>
  <dc:subject>基于 Tree-sitter 与虚拟解释器的机器人编程助手</dc:subject>
  <dc:creator>OpenAI Codex</dc:creator>
  <cp:keywords>Tree-sitter, Siasun, KRL, AST, 虚拟解释器, 在线编程助手</cp:keywords>
  <dc:description>根据 scripts/在线编程助手算法设计.md 汇总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